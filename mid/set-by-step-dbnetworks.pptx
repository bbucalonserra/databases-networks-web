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  <p:sldId id="274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56" d="100"/>
          <a:sy n="56" d="100"/>
        </p:scale>
        <p:origin x="2827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88717-FAE2-81E6-4C48-1F82AE255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A79E6-4334-DD01-C1D0-1E60FA8E4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09B5F-1455-F513-176D-708A33A68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7696-7C0D-485B-978C-A2C42643E58B}" type="datetimeFigureOut">
              <a:rPr lang="pt-BR" smtClean="0"/>
              <a:t>06/01/2026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E04F6-8E9D-4F72-C84A-3221F71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39E3E-D29D-3688-88AB-940B048B4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881D-691B-46D1-A62E-8A92F2F0AD5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21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1F5E0-4B6A-D304-9BB7-51CC79ECD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F202B-87D6-2B4F-817B-29D190274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E7064-D792-D391-0CB3-7A62360F7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7696-7C0D-485B-978C-A2C42643E58B}" type="datetimeFigureOut">
              <a:rPr lang="pt-BR" smtClean="0"/>
              <a:t>06/01/2026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DEC3F-FCE4-4A6B-CA31-723E916D8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37ABE-E924-FBE4-16BA-EECDE4E99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881D-691B-46D1-A62E-8A92F2F0AD5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513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92374-7DD7-F6ED-28E5-8EEA58AA3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F01AC-380A-5CE2-7825-4754C0EFB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1B3C1-89FB-26DD-84E5-F052A3719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7696-7C0D-485B-978C-A2C42643E58B}" type="datetimeFigureOut">
              <a:rPr lang="pt-BR" smtClean="0"/>
              <a:t>06/01/2026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BDD26-F40C-8166-AC3B-CB9B79DD5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D9B63-0919-D8D8-44D6-A66580D7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881D-691B-46D1-A62E-8A92F2F0AD5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3484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BFA01-208F-1352-3DCF-8A23DD8B0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596F3-1197-8C1B-B9AA-1E2F852DD6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89362-EEF7-4BC7-AA8B-7262EAEFD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4A6ECD-F8A5-AC8F-BE44-834D01375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7696-7C0D-485B-978C-A2C42643E58B}" type="datetimeFigureOut">
              <a:rPr lang="pt-BR" smtClean="0"/>
              <a:t>06/01/2026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FF576-D17F-73CE-DB38-3469CB57A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2D60D-DDFA-7F8E-674F-BAE7AF8B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881D-691B-46D1-A62E-8A92F2F0AD5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3147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C7E5F-F5B8-6241-9521-7F3D98E33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A80F3-9AA2-B561-A4EF-4CF644833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5DA3D9-B3EC-19EA-06CF-FB086A568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5F8872-B9AA-6A95-C1EE-AA5FFEB2A8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F58C27-2922-AD6A-79DF-4104B3E3C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6F9D44-ABB5-EB5C-D918-DCE8E381D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7696-7C0D-485B-978C-A2C42643E58B}" type="datetimeFigureOut">
              <a:rPr lang="pt-BR" smtClean="0"/>
              <a:t>06/01/2026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380013-8470-0ADB-39FE-B0389B5D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F7F512-253C-956B-4BB9-97327A8F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881D-691B-46D1-A62E-8A92F2F0AD5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9477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407B4-31B8-19B6-C96B-A156592A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E4839C-E0F4-91E0-6BD0-93DC72620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7696-7C0D-485B-978C-A2C42643E58B}" type="datetimeFigureOut">
              <a:rPr lang="pt-BR" smtClean="0"/>
              <a:t>06/01/2026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9F675D-97AC-DE2F-4E48-648AA48F7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7E1B7-9728-E476-420D-1E82A8F3F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881D-691B-46D1-A62E-8A92F2F0AD5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897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107E88-F9FB-F401-B163-1028E4EFA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7696-7C0D-485B-978C-A2C42643E58B}" type="datetimeFigureOut">
              <a:rPr lang="pt-BR" smtClean="0"/>
              <a:t>06/01/2026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4BFA42-77DE-5384-C744-5584DF874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7DB93-F261-D814-66E7-E4A38B26B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881D-691B-46D1-A62E-8A92F2F0AD5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991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4DC8-BAA7-5B25-9057-2636EB0D9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FF9A3-58C8-2E3A-544A-643712BC2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3DB78B-331D-E8A9-B2D2-53982FC2E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FEFD0-44AB-563F-EA09-7F0B3AC8C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7696-7C0D-485B-978C-A2C42643E58B}" type="datetimeFigureOut">
              <a:rPr lang="pt-BR" smtClean="0"/>
              <a:t>06/01/2026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B5F62-9D4D-9C73-C1A9-D4A30ECC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23FDE-5D0A-AFE3-597E-8EE1AC03A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881D-691B-46D1-A62E-8A92F2F0AD5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0728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66A95-B173-F73E-83EC-FFC8CC1D6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C63863-61BE-761A-F511-88AACF4DD2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33791-F30C-DF00-D4B0-C0F2C2187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4CBBD-B675-B59D-2A77-A2CD915D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7696-7C0D-485B-978C-A2C42643E58B}" type="datetimeFigureOut">
              <a:rPr lang="pt-BR" smtClean="0"/>
              <a:t>06/01/2026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2F9F7-6696-1A00-B72E-997EAD4B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8D41B-65DB-52B9-F6D7-69B0C241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881D-691B-46D1-A62E-8A92F2F0AD5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64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063B7-C937-49AA-45A0-4F35CAE40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626C38-22E6-B07A-C4EB-39A50D73D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6DD02-7F2A-7EE0-3412-7D55D17B7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7696-7C0D-485B-978C-A2C42643E58B}" type="datetimeFigureOut">
              <a:rPr lang="pt-BR" smtClean="0"/>
              <a:t>06/01/2026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0E5C1-8F71-F94C-E357-B012EEB80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C9A2E-1F63-910E-1769-3F99B93A4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881D-691B-46D1-A62E-8A92F2F0AD5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65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BE209E-DFB1-444E-2CD9-DA4F30691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18579-C75B-2B45-0585-3A1392C15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C6A6F-D645-A516-F250-6874A8909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7696-7C0D-485B-978C-A2C42643E58B}" type="datetimeFigureOut">
              <a:rPr lang="pt-BR" smtClean="0"/>
              <a:t>06/01/2026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22916-1EDD-DA68-239B-F4B97FF8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038B2-9186-6DDC-CC2B-FA61EBACD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A881D-691B-46D1-A62E-8A92F2F0AD5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8522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69D08-5D2B-AD5A-ED32-0AFD7D14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E6ED5-3F81-A168-925F-0C5553516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A0539-63B6-5A53-8985-5174EFC44C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67696-7C0D-485B-978C-A2C42643E58B}" type="datetimeFigureOut">
              <a:rPr lang="pt-BR" smtClean="0"/>
              <a:t>06/01/2026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8AAD6-AEE6-5C9C-A77B-81EEBA0D9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AB937-C0C2-AC4E-DF18-15AC8EAF4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BA881D-691B-46D1-A62E-8A92F2F0AD5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0321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E37E0-A606-306F-20C8-BE299C5C0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794831-13D9-AC6D-9212-9578BAA7A8AA}"/>
              </a:ext>
            </a:extLst>
          </p:cNvPr>
          <p:cNvSpPr txBox="1"/>
          <p:nvPr/>
        </p:nvSpPr>
        <p:spPr>
          <a:xfrm>
            <a:off x="391885" y="296093"/>
            <a:ext cx="111992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/>
              <a:t>“Web server is a program that uses HTTP to serve the files that form web pages to users, in response to their requirements, which are forwarded by their computers HTTP clientes.” – Tech Target</a:t>
            </a:r>
          </a:p>
          <a:p>
            <a:endParaRPr lang="pt-BR" sz="1400" i="1" dirty="0"/>
          </a:p>
          <a:p>
            <a:r>
              <a:rPr lang="pt-BR" sz="1400" i="1" dirty="0"/>
              <a:t>“Web server is a server software, or hardware dedicated to running said software, that can satisfy World Wide Web client requests, a web server process incoming network requests over HTTP and several other related protocols.”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93CDB-2E02-85C1-902F-65A9592661D9}"/>
              </a:ext>
            </a:extLst>
          </p:cNvPr>
          <p:cNvSpPr txBox="1"/>
          <p:nvPr/>
        </p:nvSpPr>
        <p:spPr>
          <a:xfrm>
            <a:off x="391885" y="1632118"/>
            <a:ext cx="1104246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O PHP utiliza um modelo </a:t>
            </a:r>
            <a:r>
              <a:rPr lang="pt-BR" b="1" dirty="0"/>
              <a:t>síncrono e multi-threaded</a:t>
            </a:r>
            <a:r>
              <a:rPr lang="pt-BR" dirty="0"/>
              <a:t>. Cada requisição é tratada por um processo ou thread separado. Quando o PHP faz uma operação externa, como consultar um banco de dados, ele </a:t>
            </a:r>
            <a:r>
              <a:rPr lang="pt-BR" b="1" dirty="0"/>
              <a:t>fica bloqueado</a:t>
            </a:r>
            <a:r>
              <a:rPr lang="pt-BR" dirty="0"/>
              <a:t> até a resposta chegar. Se outro usuário fizer uma requisição nesse período, o servidor precisa alocar outro thread ou processo, o que aumenta o consumo de memória e limita a escalabilidade.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O Node.js utiliza um modelo </a:t>
            </a:r>
            <a:r>
              <a:rPr lang="pt-BR" b="1" dirty="0"/>
              <a:t>assíncrono, orientado a eventos e single-threaded</a:t>
            </a:r>
            <a:r>
              <a:rPr lang="pt-BR" dirty="0"/>
              <a:t>. Ele </a:t>
            </a:r>
            <a:r>
              <a:rPr lang="pt-BR" b="1" dirty="0"/>
              <a:t>não bloqueia</a:t>
            </a:r>
            <a:r>
              <a:rPr lang="pt-BR" dirty="0"/>
              <a:t> a execução ao acessar banco de dados ou outros recursos externos. Enquanto aguarda a resposta, continua processando outras requisições no mesmo thread. Quando a resposta chega, um evento é disparado e o resultado é retornado ao cliente.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FAE610-A7B7-D866-369F-1EFADB518DCD}"/>
              </a:ext>
            </a:extLst>
          </p:cNvPr>
          <p:cNvSpPr txBox="1"/>
          <p:nvPr/>
        </p:nvSpPr>
        <p:spPr>
          <a:xfrm>
            <a:off x="539931" y="476421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Um </a:t>
            </a:r>
            <a:r>
              <a:rPr lang="pt-BR" b="1" dirty="0"/>
              <a:t>thread</a:t>
            </a:r>
            <a:r>
              <a:rPr lang="pt-BR" dirty="0"/>
              <a:t> é uma unidade de execução dentro de um processo. Ele representa um fluxo de instruções que o sistema operacional agenda para ser executado pela CPU.</a:t>
            </a:r>
          </a:p>
        </p:txBody>
      </p:sp>
    </p:spTree>
    <p:extLst>
      <p:ext uri="{BB962C8B-B14F-4D97-AF65-F5344CB8AC3E}">
        <p14:creationId xmlns:p14="http://schemas.microsoft.com/office/powerpoint/2010/main" val="860786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703BF-E9FC-C119-75B0-2FF867D0D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9E5681-7A61-D592-956F-CB7E5D566D25}"/>
              </a:ext>
            </a:extLst>
          </p:cNvPr>
          <p:cNvSpPr txBox="1"/>
          <p:nvPr/>
        </p:nvSpPr>
        <p:spPr>
          <a:xfrm>
            <a:off x="87086" y="112707"/>
            <a:ext cx="1058091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HTTP</a:t>
            </a:r>
            <a:br>
              <a:rPr lang="pt-BR" sz="1400" dirty="0"/>
            </a:br>
            <a:r>
              <a:rPr lang="pt-BR" sz="1400" dirty="0"/>
              <a:t>Protocolo de comunicação usado para transferir dados entre cliente (navegador) e servidor web.</a:t>
            </a:r>
          </a:p>
          <a:p>
            <a:r>
              <a:rPr lang="pt-BR" sz="1400" b="1" dirty="0"/>
              <a:t>HTTPS</a:t>
            </a:r>
            <a:br>
              <a:rPr lang="pt-BR" sz="1400" dirty="0"/>
            </a:br>
            <a:r>
              <a:rPr lang="pt-BR" sz="1400" dirty="0"/>
              <a:t>Versão segura do HTTP, que utiliza criptografia (TLS/SSL) para proteger os dados transmitidos.</a:t>
            </a:r>
          </a:p>
          <a:p>
            <a:r>
              <a:rPr lang="pt-BR" sz="1400" b="1" dirty="0"/>
              <a:t>DNS (Domain Name System)</a:t>
            </a:r>
            <a:br>
              <a:rPr lang="pt-BR" sz="1400" dirty="0"/>
            </a:br>
            <a:r>
              <a:rPr lang="pt-BR" sz="1400" dirty="0"/>
              <a:t>Sistema que traduz nomes de domínio (ex.: google.com) em endereços IP. “Para qual </a:t>
            </a:r>
          </a:p>
          <a:p>
            <a:r>
              <a:rPr lang="pt-BR" sz="1400" dirty="0"/>
              <a:t>endpoint devo enviar pacotes quando uso este nome? Um IP de servidor, Que está</a:t>
            </a:r>
          </a:p>
          <a:p>
            <a:r>
              <a:rPr lang="pt-BR" sz="1400" dirty="0"/>
              <a:t>conectado à internet, Que pertence a alguma rede (de um servidor).”</a:t>
            </a:r>
          </a:p>
          <a:p>
            <a:r>
              <a:rPr lang="pt-BR" sz="1400" b="1" dirty="0"/>
              <a:t>IP (Internet Protocol)</a:t>
            </a:r>
            <a:br>
              <a:rPr lang="pt-BR" sz="1400" dirty="0"/>
            </a:br>
            <a:r>
              <a:rPr lang="pt-BR" sz="1400" dirty="0"/>
              <a:t>Endereço numérico que identifica um dispositivo na rede (ex.: 192.168.1.1). Tem IP publico</a:t>
            </a:r>
          </a:p>
          <a:p>
            <a:r>
              <a:rPr lang="pt-BR" sz="1400" dirty="0"/>
              <a:t>e IP privado.  IP privado é acessivel apenas dentro da rede (por ex rede da minha casa)</a:t>
            </a:r>
          </a:p>
          <a:p>
            <a:r>
              <a:rPr lang="pt-BR" sz="1400" b="1" dirty="0"/>
              <a:t>Rede</a:t>
            </a:r>
            <a:br>
              <a:rPr lang="pt-BR" sz="1400" dirty="0"/>
            </a:br>
            <a:r>
              <a:rPr lang="pt-BR" sz="1400" dirty="0"/>
              <a:t>Qualquer conjunto de dispositivos conectados para trocar dados. (rede de casa = rede </a:t>
            </a:r>
          </a:p>
          <a:p>
            <a:r>
              <a:rPr lang="pt-BR" sz="1400" dirty="0"/>
              <a:t>local, rede de empresa = privada, internet = rede publica mundial)</a:t>
            </a:r>
          </a:p>
          <a:p>
            <a:r>
              <a:rPr lang="pt-BR" sz="1400" b="1" dirty="0"/>
              <a:t>URL (Uniform Resource Locator)</a:t>
            </a:r>
            <a:br>
              <a:rPr lang="pt-BR" sz="1400" dirty="0"/>
            </a:br>
            <a:r>
              <a:rPr lang="pt-BR" sz="1400" dirty="0"/>
              <a:t>Endereço completo de um recurso na web, incluindo protocolo, domínio e caminho.</a:t>
            </a:r>
          </a:p>
          <a:p>
            <a:r>
              <a:rPr lang="pt-BR" sz="1400" b="1" dirty="0"/>
              <a:t>Domínio</a:t>
            </a:r>
            <a:br>
              <a:rPr lang="pt-BR" sz="1400" dirty="0"/>
            </a:br>
            <a:r>
              <a:rPr lang="pt-BR" sz="1400" dirty="0"/>
              <a:t>Nome legível associado a um endereço IP (ex.: example.com).</a:t>
            </a:r>
          </a:p>
          <a:p>
            <a:r>
              <a:rPr lang="pt-BR" sz="1400" b="1" dirty="0"/>
              <a:t>Servidor</a:t>
            </a:r>
            <a:br>
              <a:rPr lang="pt-BR" sz="1400" dirty="0"/>
            </a:br>
            <a:r>
              <a:rPr lang="pt-BR" sz="1400" dirty="0"/>
              <a:t>Computador ou software que fornece recursos ou serviços a outros computadores (clientes).</a:t>
            </a:r>
          </a:p>
          <a:p>
            <a:r>
              <a:rPr lang="pt-BR" sz="1400" b="1" dirty="0"/>
              <a:t>Cliente</a:t>
            </a:r>
            <a:br>
              <a:rPr lang="pt-BR" sz="1400" dirty="0"/>
            </a:br>
            <a:r>
              <a:rPr lang="pt-BR" sz="1400" dirty="0"/>
              <a:t>Dispositivo ou aplicação que solicita recursos a um servidor (ex.: navegador).</a:t>
            </a:r>
          </a:p>
          <a:p>
            <a:r>
              <a:rPr lang="pt-BR" sz="1400" b="1" dirty="0"/>
              <a:t>TCP/IP</a:t>
            </a:r>
            <a:br>
              <a:rPr lang="pt-BR" sz="1400" dirty="0"/>
            </a:br>
            <a:r>
              <a:rPr lang="pt-BR" sz="1400" dirty="0"/>
              <a:t>Conjunto de protocolos que permite a comunicação entre dispositivos na internet.</a:t>
            </a:r>
          </a:p>
          <a:p>
            <a:r>
              <a:rPr lang="pt-BR" sz="1400" b="1" dirty="0"/>
              <a:t>Porta (Port)</a:t>
            </a:r>
            <a:br>
              <a:rPr lang="pt-BR" sz="1400" dirty="0"/>
            </a:br>
            <a:r>
              <a:rPr lang="pt-BR" sz="1400" dirty="0"/>
              <a:t>Número que identifica qual serviço está sendo acessado em um servidor (ex.: 80, 443).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D044A7-990D-A2B2-538B-79AC8A926B8F}"/>
              </a:ext>
            </a:extLst>
          </p:cNvPr>
          <p:cNvSpPr txBox="1"/>
          <p:nvPr/>
        </p:nvSpPr>
        <p:spPr>
          <a:xfrm>
            <a:off x="9239794" y="1751486"/>
            <a:ext cx="2865120" cy="2031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400" dirty="0"/>
              <a:t>Um endereço </a:t>
            </a:r>
            <a:r>
              <a:rPr lang="pt-BR" sz="1400" b="1" dirty="0"/>
              <a:t>IP</a:t>
            </a:r>
            <a:r>
              <a:rPr lang="pt-BR" sz="1400" dirty="0"/>
              <a:t> identifica </a:t>
            </a:r>
            <a:r>
              <a:rPr lang="pt-BR" sz="1400" b="1" dirty="0"/>
              <a:t>o computador</a:t>
            </a:r>
            <a:r>
              <a:rPr lang="pt-BR" sz="1400" dirty="0"/>
              <a:t> na rede.</a:t>
            </a:r>
          </a:p>
          <a:p>
            <a:pPr>
              <a:buNone/>
            </a:pPr>
            <a:br>
              <a:rPr lang="pt-BR" sz="1400" dirty="0"/>
            </a:br>
            <a:r>
              <a:rPr lang="pt-BR" sz="1400" dirty="0"/>
              <a:t>A </a:t>
            </a:r>
            <a:r>
              <a:rPr lang="pt-BR" sz="1400" b="1" dirty="0"/>
              <a:t>porta</a:t>
            </a:r>
            <a:r>
              <a:rPr lang="pt-BR" sz="1400" dirty="0"/>
              <a:t> identifica </a:t>
            </a:r>
            <a:r>
              <a:rPr lang="pt-BR" sz="1400" b="1" dirty="0"/>
              <a:t>o serviço rodando nesse computador</a:t>
            </a:r>
            <a:r>
              <a:rPr lang="pt-BR" sz="1400" dirty="0"/>
              <a:t>.</a:t>
            </a:r>
          </a:p>
          <a:p>
            <a:pPr>
              <a:buNone/>
            </a:pPr>
            <a:endParaRPr lang="pt-BR" sz="1400" dirty="0"/>
          </a:p>
          <a:p>
            <a:pPr>
              <a:buNone/>
            </a:pPr>
            <a:r>
              <a:rPr lang="pt-BR" sz="1400" dirty="0"/>
              <a:t>Analogia direta: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IP → endereço de um prédio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400" dirty="0"/>
              <a:t>Porta → número do apartamento</a:t>
            </a:r>
          </a:p>
        </p:txBody>
      </p:sp>
    </p:spTree>
    <p:extLst>
      <p:ext uri="{BB962C8B-B14F-4D97-AF65-F5344CB8AC3E}">
        <p14:creationId xmlns:p14="http://schemas.microsoft.com/office/powerpoint/2010/main" val="992183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CFFA1D-FEE1-6FFA-500B-B147B411F032}"/>
              </a:ext>
            </a:extLst>
          </p:cNvPr>
          <p:cNvSpPr txBox="1"/>
          <p:nvPr/>
        </p:nvSpPr>
        <p:spPr>
          <a:xfrm>
            <a:off x="365760" y="252549"/>
            <a:ext cx="117130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Npm install -&gt; instala as dependencias (bibliotecas) de projetos em javascript.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 Precisa ter um packages.json no diretório local. Ele lê as dependencias listadas em dependencies e devDependencies.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Cria o package-lock.json que fixa versões exatas das dependencias para garantir reprodutibilidade.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22AC58-BFDF-C700-EF59-ADEE8B35CB7E}"/>
              </a:ext>
            </a:extLst>
          </p:cNvPr>
          <p:cNvSpPr txBox="1"/>
          <p:nvPr/>
        </p:nvSpPr>
        <p:spPr>
          <a:xfrm>
            <a:off x="239486" y="1860070"/>
            <a:ext cx="117130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npm run build-db-&gt; o npm abre o package.json, entra na seção scripts, procura a chave build-db, le o valor associado (uma string). Ex: </a:t>
            </a:r>
            <a:r>
              <a:rPr lang="pt-BR" i="1" dirty="0"/>
              <a:t>"build-db": "cat db_schema.sql | sqlite3 database.db“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Ai, ele chama o shell do sistema (pode ser bash, cmd, powershell, etc.) e passa a string exatamente como ela está (exemplo: "cat db_schema.sql | sqlite3 database.db“, mais precisamente: “/bin/sh -c "cat db_schema.sql | sqlite3 database.db"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cat é um </a:t>
            </a:r>
            <a:r>
              <a:rPr lang="pt-BR" b="1" dirty="0"/>
              <a:t>programa do sistema operacional, ele apenas le </a:t>
            </a:r>
            <a:r>
              <a:rPr lang="pt-BR" dirty="0"/>
              <a:t>um arquivo e escrever o conteúdo dele como texto. Ou seja ele apenas le o texto do arquivo “.sql”.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pipe “|” é um operador do shell. Ele faz “tudo que sair do comando da esquerda vira </a:t>
            </a:r>
            <a:r>
              <a:rPr lang="pt-BR" b="1" dirty="0"/>
              <a:t>entrada</a:t>
            </a:r>
            <a:r>
              <a:rPr lang="pt-BR" dirty="0"/>
              <a:t> do comando da direita”, entao: cat db_schema.sql | sqlite3 database.db é tudo que sair do texto de db_schema.sql vira um comando do sqlite3 database.db.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sqlite3 é um </a:t>
            </a:r>
            <a:r>
              <a:rPr lang="pt-BR" b="1" dirty="0"/>
              <a:t>executável instalado no seu sistema, ele </a:t>
            </a:r>
            <a:r>
              <a:rPr lang="pt-BR" dirty="0"/>
              <a:t>abre (ou cria) o arquivo database.db e ca aguardando comandos SQL via </a:t>
            </a:r>
            <a:r>
              <a:rPr lang="pt-BR" b="1" dirty="0"/>
              <a:t>stdin (standard input, canal de entrada de dados de todo programa).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2691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FC18F-C292-22AE-2769-1BD565D74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896617-2CC6-42C2-E802-11547580A5A0}"/>
              </a:ext>
            </a:extLst>
          </p:cNvPr>
          <p:cNvSpPr txBox="1"/>
          <p:nvPr/>
        </p:nvSpPr>
        <p:spPr>
          <a:xfrm>
            <a:off x="374469" y="75764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xxxxxx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9196E1-950E-2D48-7D56-EA9C35406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336" y="509180"/>
            <a:ext cx="8259328" cy="583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502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1FCB-CC78-C209-EF1E-6DE09914E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FF33E1-CAB8-1F0E-4EFC-30988ACBE110}"/>
              </a:ext>
            </a:extLst>
          </p:cNvPr>
          <p:cNvSpPr txBox="1"/>
          <p:nvPr/>
        </p:nvSpPr>
        <p:spPr>
          <a:xfrm>
            <a:off x="305285" y="403553"/>
            <a:ext cx="578575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Index.js: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Importa o express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Adiciona express numa variável chamada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Seta engine do EJS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Configura o SQLite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CONFIGURA ROTAS rota usando app.get !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pt-BR" dirty="0"/>
              <a:t>Rota homepage (so /) com get (pegar dados)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pt-BR" dirty="0"/>
              <a:t>Rota oganiser (/organiser) com get (pegar dados)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9FCA4E-D084-AA50-8494-88849A74195C}"/>
              </a:ext>
            </a:extLst>
          </p:cNvPr>
          <p:cNvSpPr txBox="1"/>
          <p:nvPr/>
        </p:nvSpPr>
        <p:spPr>
          <a:xfrm>
            <a:off x="8713411" y="4065508"/>
            <a:ext cx="3187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Index.ejs: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Cria a página usando HTML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8BFB99-322E-B10F-9CBB-365AFC16E90C}"/>
              </a:ext>
            </a:extLst>
          </p:cNvPr>
          <p:cNvCxnSpPr>
            <a:stCxn id="2" idx="1"/>
            <a:endCxn id="4" idx="3"/>
          </p:cNvCxnSpPr>
          <p:nvPr/>
        </p:nvCxnSpPr>
        <p:spPr>
          <a:xfrm flipH="1" flipV="1">
            <a:off x="6091036" y="1557715"/>
            <a:ext cx="2622375" cy="2830959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534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792BB-ABAC-E6A2-A3C9-67EBFB110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3497B3-288F-521A-9AF6-612BFC2B0DFF}"/>
              </a:ext>
            </a:extLst>
          </p:cNvPr>
          <p:cNvSpPr txBox="1"/>
          <p:nvPr/>
        </p:nvSpPr>
        <p:spPr>
          <a:xfrm>
            <a:off x="305285" y="264216"/>
            <a:ext cx="689637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Index.js: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Importa o express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Adiciona express numa variável chamada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Seta engine do EJS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Configura o SQLite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CONFIGURA ROTAS rota usando app.get  (unico no projeto todo)!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pt-BR" dirty="0"/>
              <a:t>Rota homepage (so /)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pt-BR" dirty="0"/>
              <a:t>Rota oganiser (/organiser)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81910-9F32-8B40-432B-3ACC53A5FE6B}"/>
              </a:ext>
            </a:extLst>
          </p:cNvPr>
          <p:cNvSpPr txBox="1"/>
          <p:nvPr/>
        </p:nvSpPr>
        <p:spPr>
          <a:xfrm>
            <a:off x="8713411" y="4065508"/>
            <a:ext cx="3187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Index.ejs: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Cria a página usando HTML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ECBEE3-9DC7-6DC7-04B1-CB8451C3AEAA}"/>
              </a:ext>
            </a:extLst>
          </p:cNvPr>
          <p:cNvSpPr txBox="1"/>
          <p:nvPr/>
        </p:nvSpPr>
        <p:spPr>
          <a:xfrm>
            <a:off x="291498" y="3695339"/>
            <a:ext cx="736733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organiser.js: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Importa o express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CONFIGURA ROTAS rota usando router = express.Router(). É diferente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dirty="0"/>
              <a:t>Porque é como se fosse um mini app local.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pt-BR" dirty="0"/>
              <a:t>Rota oganiser (/organiser)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pt-BR" dirty="0"/>
              <a:t>Rota organiser/settings com get (display)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pt-BR" dirty="0"/>
              <a:t>Rota organiser/settings com post (postar dados apos att.)</a:t>
            </a:r>
          </a:p>
        </p:txBody>
      </p:sp>
    </p:spTree>
    <p:extLst>
      <p:ext uri="{BB962C8B-B14F-4D97-AF65-F5344CB8AC3E}">
        <p14:creationId xmlns:p14="http://schemas.microsoft.com/office/powerpoint/2010/main" val="4023842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27EAB-0F5B-83D0-B175-302B5565B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ABCC72-A26F-D35E-4945-D018DA051888}"/>
              </a:ext>
            </a:extLst>
          </p:cNvPr>
          <p:cNvSpPr txBox="1"/>
          <p:nvPr/>
        </p:nvSpPr>
        <p:spPr>
          <a:xfrm>
            <a:off x="374469" y="75764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xxxxxx</a:t>
            </a:r>
          </a:p>
        </p:txBody>
      </p:sp>
    </p:spTree>
    <p:extLst>
      <p:ext uri="{BB962C8B-B14F-4D97-AF65-F5344CB8AC3E}">
        <p14:creationId xmlns:p14="http://schemas.microsoft.com/office/powerpoint/2010/main" val="470305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D3F1C-EB23-D335-8ED1-4D0B05000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82384C-8F0F-6935-8EA2-1AB7C8B2A6D1}"/>
              </a:ext>
            </a:extLst>
          </p:cNvPr>
          <p:cNvSpPr txBox="1"/>
          <p:nvPr/>
        </p:nvSpPr>
        <p:spPr>
          <a:xfrm>
            <a:off x="374469" y="75764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xxxxxx</a:t>
            </a:r>
          </a:p>
        </p:txBody>
      </p:sp>
    </p:spTree>
    <p:extLst>
      <p:ext uri="{BB962C8B-B14F-4D97-AF65-F5344CB8AC3E}">
        <p14:creationId xmlns:p14="http://schemas.microsoft.com/office/powerpoint/2010/main" val="1622816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85D70-268F-6538-0592-A17401CF6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40EB03-87B1-776A-F1CE-074795E06EB4}"/>
              </a:ext>
            </a:extLst>
          </p:cNvPr>
          <p:cNvSpPr txBox="1"/>
          <p:nvPr/>
        </p:nvSpPr>
        <p:spPr>
          <a:xfrm>
            <a:off x="374469" y="75764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xxxxxx</a:t>
            </a:r>
          </a:p>
        </p:txBody>
      </p:sp>
    </p:spTree>
    <p:extLst>
      <p:ext uri="{BB962C8B-B14F-4D97-AF65-F5344CB8AC3E}">
        <p14:creationId xmlns:p14="http://schemas.microsoft.com/office/powerpoint/2010/main" val="925670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DEC62-64F9-E3F2-5C2B-A699CBB08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92F636-04C8-833D-C0F9-4DC3015AFA06}"/>
              </a:ext>
            </a:extLst>
          </p:cNvPr>
          <p:cNvSpPr txBox="1"/>
          <p:nvPr/>
        </p:nvSpPr>
        <p:spPr>
          <a:xfrm>
            <a:off x="374469" y="75764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xxxxxx</a:t>
            </a:r>
          </a:p>
        </p:txBody>
      </p:sp>
    </p:spTree>
    <p:extLst>
      <p:ext uri="{BB962C8B-B14F-4D97-AF65-F5344CB8AC3E}">
        <p14:creationId xmlns:p14="http://schemas.microsoft.com/office/powerpoint/2010/main" val="4214926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3F4C0-0DEE-7ED4-BAA4-CFEED6B3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D27AE4-6A4E-DE3D-D9EF-5387F6598009}"/>
              </a:ext>
            </a:extLst>
          </p:cNvPr>
          <p:cNvSpPr txBox="1"/>
          <p:nvPr/>
        </p:nvSpPr>
        <p:spPr>
          <a:xfrm>
            <a:off x="374469" y="75764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xxxxxx</a:t>
            </a:r>
          </a:p>
        </p:txBody>
      </p:sp>
    </p:spTree>
    <p:extLst>
      <p:ext uri="{BB962C8B-B14F-4D97-AF65-F5344CB8AC3E}">
        <p14:creationId xmlns:p14="http://schemas.microsoft.com/office/powerpoint/2010/main" val="1318342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FE5D1-3182-1412-BEAB-A6AC8A4D3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025404-7D49-C49F-9D5A-2AF2199ADAF0}"/>
              </a:ext>
            </a:extLst>
          </p:cNvPr>
          <p:cNvSpPr txBox="1"/>
          <p:nvPr/>
        </p:nvSpPr>
        <p:spPr>
          <a:xfrm>
            <a:off x="374469" y="75764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xxxxxx</a:t>
            </a:r>
          </a:p>
        </p:txBody>
      </p:sp>
    </p:spTree>
    <p:extLst>
      <p:ext uri="{BB962C8B-B14F-4D97-AF65-F5344CB8AC3E}">
        <p14:creationId xmlns:p14="http://schemas.microsoft.com/office/powerpoint/2010/main" val="1319724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78728-54C0-BE6C-69DF-B9F8B7EE1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743B14-1DB8-84FC-3F19-43B92D12B05D}"/>
              </a:ext>
            </a:extLst>
          </p:cNvPr>
          <p:cNvSpPr txBox="1"/>
          <p:nvPr/>
        </p:nvSpPr>
        <p:spPr>
          <a:xfrm>
            <a:off x="374469" y="75764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xxxxxx</a:t>
            </a:r>
          </a:p>
        </p:txBody>
      </p:sp>
    </p:spTree>
    <p:extLst>
      <p:ext uri="{BB962C8B-B14F-4D97-AF65-F5344CB8AC3E}">
        <p14:creationId xmlns:p14="http://schemas.microsoft.com/office/powerpoint/2010/main" val="589205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7B0D8-2EAA-E03F-C815-AB4C4EBFD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C3BBAD-0C3A-E16A-665B-374C5F45A434}"/>
              </a:ext>
            </a:extLst>
          </p:cNvPr>
          <p:cNvSpPr txBox="1"/>
          <p:nvPr/>
        </p:nvSpPr>
        <p:spPr>
          <a:xfrm>
            <a:off x="374469" y="75764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xxxxxx</a:t>
            </a:r>
          </a:p>
        </p:txBody>
      </p:sp>
    </p:spTree>
    <p:extLst>
      <p:ext uri="{BB962C8B-B14F-4D97-AF65-F5344CB8AC3E}">
        <p14:creationId xmlns:p14="http://schemas.microsoft.com/office/powerpoint/2010/main" val="345032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7AE6F-7060-F83D-1B13-51AE3EA53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3D8F62-81DE-A724-119E-F5BF1A7A6199}"/>
              </a:ext>
            </a:extLst>
          </p:cNvPr>
          <p:cNvSpPr txBox="1"/>
          <p:nvPr/>
        </p:nvSpPr>
        <p:spPr>
          <a:xfrm>
            <a:off x="374469" y="75764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xxxxxx</a:t>
            </a:r>
          </a:p>
        </p:txBody>
      </p:sp>
    </p:spTree>
    <p:extLst>
      <p:ext uri="{BB962C8B-B14F-4D97-AF65-F5344CB8AC3E}">
        <p14:creationId xmlns:p14="http://schemas.microsoft.com/office/powerpoint/2010/main" val="42294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23371-9B40-2184-DA63-F9E3E7463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EB14B1-E8AA-3560-1C2C-89B364103D81}"/>
              </a:ext>
            </a:extLst>
          </p:cNvPr>
          <p:cNvSpPr txBox="1"/>
          <p:nvPr/>
        </p:nvSpPr>
        <p:spPr>
          <a:xfrm>
            <a:off x="374469" y="75764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xxxxxx</a:t>
            </a:r>
          </a:p>
        </p:txBody>
      </p:sp>
    </p:spTree>
    <p:extLst>
      <p:ext uri="{BB962C8B-B14F-4D97-AF65-F5344CB8AC3E}">
        <p14:creationId xmlns:p14="http://schemas.microsoft.com/office/powerpoint/2010/main" val="2569798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E9184-C871-A540-190C-82F5124FE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3D6DB9-D234-AAAD-0230-15B41F5FF994}"/>
              </a:ext>
            </a:extLst>
          </p:cNvPr>
          <p:cNvSpPr txBox="1"/>
          <p:nvPr/>
        </p:nvSpPr>
        <p:spPr>
          <a:xfrm>
            <a:off x="374469" y="75764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xxxxxx</a:t>
            </a:r>
          </a:p>
        </p:txBody>
      </p:sp>
    </p:spTree>
    <p:extLst>
      <p:ext uri="{BB962C8B-B14F-4D97-AF65-F5344CB8AC3E}">
        <p14:creationId xmlns:p14="http://schemas.microsoft.com/office/powerpoint/2010/main" val="1223646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A7D6D-D3F0-62A2-5214-56FF72C99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C15B4B-FE86-FABE-BCE7-6E58497A24AE}"/>
              </a:ext>
            </a:extLst>
          </p:cNvPr>
          <p:cNvSpPr txBox="1"/>
          <p:nvPr/>
        </p:nvSpPr>
        <p:spPr>
          <a:xfrm>
            <a:off x="374469" y="75764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xxxxxx</a:t>
            </a:r>
          </a:p>
        </p:txBody>
      </p:sp>
    </p:spTree>
    <p:extLst>
      <p:ext uri="{BB962C8B-B14F-4D97-AF65-F5344CB8AC3E}">
        <p14:creationId xmlns:p14="http://schemas.microsoft.com/office/powerpoint/2010/main" val="4231888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C8A4E-D933-2E90-005F-1DAC4A0C4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F8BB50-D062-76A0-E3E9-0A215A516F53}"/>
              </a:ext>
            </a:extLst>
          </p:cNvPr>
          <p:cNvSpPr txBox="1"/>
          <p:nvPr/>
        </p:nvSpPr>
        <p:spPr>
          <a:xfrm>
            <a:off x="374469" y="75764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xxxxxx</a:t>
            </a:r>
          </a:p>
        </p:txBody>
      </p:sp>
    </p:spTree>
    <p:extLst>
      <p:ext uri="{BB962C8B-B14F-4D97-AF65-F5344CB8AC3E}">
        <p14:creationId xmlns:p14="http://schemas.microsoft.com/office/powerpoint/2010/main" val="1944724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4513</TotalTime>
  <Words>1029</Words>
  <Application>Microsoft Office PowerPoint</Application>
  <PresentationFormat>Widescreen</PresentationFormat>
  <Paragraphs>78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Bucalon Serra</dc:creator>
  <cp:lastModifiedBy>Bruno Bucalon Serra</cp:lastModifiedBy>
  <cp:revision>3</cp:revision>
  <dcterms:created xsi:type="dcterms:W3CDTF">2026-01-06T10:12:42Z</dcterms:created>
  <dcterms:modified xsi:type="dcterms:W3CDTF">2026-01-09T13:26:40Z</dcterms:modified>
</cp:coreProperties>
</file>